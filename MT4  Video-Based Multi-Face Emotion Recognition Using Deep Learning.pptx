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40" r:id="rId2"/>
    <p:sldMasterId id="2147483707" r:id="rId3"/>
  </p:sldMasterIdLst>
  <p:notesMasterIdLst>
    <p:notesMasterId r:id="rId20"/>
  </p:notesMasterIdLst>
  <p:handoutMasterIdLst>
    <p:handoutMasterId r:id="rId21"/>
  </p:handoutMasterIdLst>
  <p:sldIdLst>
    <p:sldId id="261" r:id="rId4"/>
    <p:sldId id="288" r:id="rId5"/>
    <p:sldId id="311" r:id="rId6"/>
    <p:sldId id="315" r:id="rId7"/>
    <p:sldId id="305" r:id="rId8"/>
    <p:sldId id="307" r:id="rId9"/>
    <p:sldId id="306" r:id="rId10"/>
    <p:sldId id="312" r:id="rId11"/>
    <p:sldId id="308" r:id="rId12"/>
    <p:sldId id="314" r:id="rId13"/>
    <p:sldId id="313" r:id="rId14"/>
    <p:sldId id="309" r:id="rId15"/>
    <p:sldId id="316" r:id="rId16"/>
    <p:sldId id="317" r:id="rId17"/>
    <p:sldId id="301" r:id="rId18"/>
    <p:sldId id="30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E"/>
    <a:srgbClr val="E7E6E6"/>
    <a:srgbClr val="807F80"/>
    <a:srgbClr val="A5A6A6"/>
    <a:srgbClr val="585858"/>
    <a:srgbClr val="AAAAAA"/>
    <a:srgbClr val="929292"/>
    <a:srgbClr val="FFFF00"/>
    <a:srgbClr val="F1F2F2"/>
    <a:srgbClr val="F9F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9C92D-E61D-962E-41B0-3CCADEFAF736}" v="118" dt="2026-01-05T10:40:16.423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50"/>
    <p:restoredTop sz="96959"/>
  </p:normalViewPr>
  <p:slideViewPr>
    <p:cSldViewPr snapToGrid="0" snapToObjects="1" showGuides="1">
      <p:cViewPr varScale="1">
        <p:scale>
          <a:sx n="154" d="100"/>
          <a:sy n="154" d="100"/>
        </p:scale>
        <p:origin x="232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412559167001457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bg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9F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6-7743-A8E3-CB06C727B3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86-7743-A8E3-CB06C727B3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86-7743-A8E3-CB06C727B3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763968"/>
        <c:axId val="571192768"/>
      </c:barChart>
      <c:catAx>
        <c:axId val="115476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571192768"/>
        <c:crosses val="autoZero"/>
        <c:auto val="1"/>
        <c:lblAlgn val="ctr"/>
        <c:lblOffset val="100"/>
        <c:noMultiLvlLbl val="0"/>
      </c:catAx>
      <c:valAx>
        <c:axId val="571192768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6E6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115476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52552523746062"/>
          <c:y val="0.93412845896881036"/>
          <c:w val="0.40894878693928838"/>
          <c:h val="6.5871541031189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SALES</a:t>
            </a:r>
          </a:p>
        </c:rich>
      </c:tx>
      <c:layout>
        <c:manualLayout>
          <c:xMode val="edge"/>
          <c:yMode val="edge"/>
          <c:x val="0.403157922587241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AE5-BC47-8800-5A9F6026E152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AE5-BC47-8800-5A9F6026E152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AE5-BC47-8800-5A9F6026E152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AE5-BC47-8800-5A9F6026E152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65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AE5-BC47-8800-5A9F6026E1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155787985527038E-2"/>
          <c:y val="0.92494248187899974"/>
          <c:w val="0.81568842402894592"/>
          <c:h val="7.5057518121000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CHART TITLE</a:t>
            </a:r>
          </a:p>
        </c:rich>
      </c:tx>
      <c:layout>
        <c:manualLayout>
          <c:xMode val="edge"/>
          <c:yMode val="edge"/>
          <c:x val="0.4125591670014578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9F9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4B-6C47-972A-B110C8D37B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4B-6C47-972A-B110C8D37B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Inter Medium" panose="020B0502030000000004" pitchFamily="34" charset="0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4B-6C47-972A-B110C8D37B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54763968"/>
        <c:axId val="571192768"/>
      </c:barChart>
      <c:catAx>
        <c:axId val="1154763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571192768"/>
        <c:crosses val="autoZero"/>
        <c:auto val="1"/>
        <c:lblAlgn val="ctr"/>
        <c:lblOffset val="100"/>
        <c:noMultiLvlLbl val="0"/>
      </c:catAx>
      <c:valAx>
        <c:axId val="571192768"/>
        <c:scaling>
          <c:orientation val="minMax"/>
        </c:scaling>
        <c:delete val="0"/>
        <c:axPos val="l"/>
        <c:majorGridlines>
          <c:spPr>
            <a:ln w="15875" cap="flat" cmpd="sng" algn="ctr">
              <a:solidFill>
                <a:srgbClr val="E6E6E6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pPr>
            <a:endParaRPr lang="en-US"/>
          </a:p>
        </c:txPr>
        <c:crossAx val="1154763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52552523746062"/>
          <c:y val="0.93412845896881036"/>
          <c:w val="0.40894878693928838"/>
          <c:h val="6.5871541031189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pPr>
            <a:r>
              <a:rPr lang="en-US" sz="1500" b="1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SALES</a:t>
            </a:r>
          </a:p>
        </c:rich>
      </c:tx>
      <c:layout>
        <c:manualLayout>
          <c:xMode val="edge"/>
          <c:yMode val="edge"/>
          <c:x val="0.40315792258724104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8E-CD47-A703-74F3E808FEB0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8E-CD47-A703-74F3E808FEB0}"/>
              </c:ext>
            </c:extLst>
          </c:dPt>
          <c:dPt>
            <c:idx val="2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98E-CD47-A703-74F3E808FEB0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98E-CD47-A703-74F3E808FEB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65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8E-CD47-A703-74F3E808F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2155787985527038E-2"/>
          <c:y val="0.92494248187899974"/>
          <c:w val="0.81568842402894592"/>
          <c:h val="7.5057518121000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Inter Medium" panose="020B0502030000000004" pitchFamily="34" charset="0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8C3969-9E63-A345-BB21-C4F80F17B8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AFF04-979D-ED46-A90F-3C0B9D5964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77756-703A-4C45-96D0-2261A4FADC57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A9E3F-2800-654D-A508-43B1B8C345F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DB950-E412-6D41-986A-A4F7198885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AD6D8-DF40-6D42-973A-CD331A9D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097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A7845-6E42-A54B-BDCA-C3518250E7BF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41982-9C9C-C141-8575-EDABC0346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4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in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62B305F-E454-6A49-BE5A-20AC4E248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2355" y="5837238"/>
            <a:ext cx="8854531" cy="4000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Subantraštė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D15DE3A-FC37-F54E-907A-A159B33E94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355" y="1952625"/>
            <a:ext cx="8854531" cy="353452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7BC27-E701-EC4E-A29B-BA55A67673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236F9-E2AE-0F43-8E57-369CAB5520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0B7D9-02D2-AC4C-8368-6F07A5A2E8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35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in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141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ulin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147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in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6921" y="424809"/>
            <a:ext cx="862883" cy="983770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6D6B95C-B687-614F-8DA6-5031F96661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3221" y="1960510"/>
            <a:ext cx="6975279" cy="4276777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1200"/>
              </a:spcBef>
              <a:buClr>
                <a:srgbClr val="FFFF00"/>
              </a:buClr>
              <a:buFont typeface="+mj-lt"/>
              <a:buAutoNum type="arabicPeriod"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5D01418-F6D6-EA49-BF7F-FFFFA2FDDC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13221" y="600737"/>
            <a:ext cx="8037512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Turinys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768C0BA-DBA4-9E4F-97DF-579214DE10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46472" y="0"/>
            <a:ext cx="190500" cy="6858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862C0A-2BED-074B-8AF0-3A7D2789C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-1604416" y="3603891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AF8862B-96D5-3A40-B92F-BAC6CDE874C0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229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731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yrius_Vienas skaiči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892914-F5A9-F642-B52A-C75D04F092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40052" y="0"/>
            <a:ext cx="381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4D699B-062F-E34A-B8AF-6AF33D54CB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119640" t="58032" r="-170830" b="390"/>
          <a:stretch/>
        </p:blipFill>
        <p:spPr>
          <a:xfrm rot="5400000">
            <a:off x="1351336" y="52466"/>
            <a:ext cx="148773" cy="2851446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24758FE-FB03-7945-8489-CE74EBB534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7098" y="3668711"/>
            <a:ext cx="6222494" cy="27240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7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E61C04-401B-A548-95BE-432EEC7539D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373481" y="1329925"/>
            <a:ext cx="1104900" cy="254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3BDE46-B3FD-934A-954D-8ED9ABBD06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3ABD1B-A1CE-B243-B0AE-AFA3DF058648}"/>
              </a:ext>
            </a:extLst>
          </p:cNvPr>
          <p:cNvSpPr txBox="1"/>
          <p:nvPr userDrawn="1"/>
        </p:nvSpPr>
        <p:spPr>
          <a:xfrm>
            <a:off x="3467098" y="1289465"/>
            <a:ext cx="4604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15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0045096-48AE-2F45-81DE-246F7A97BA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373722"/>
            <a:ext cx="2828658" cy="3222561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 algn="ctr">
              <a:buNone/>
              <a:defRPr sz="26000" b="1" i="0">
                <a:ln w="19050">
                  <a:solidFill>
                    <a:schemeClr val="bg1"/>
                  </a:solidFill>
                </a:ln>
                <a:noFill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4796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yrius_Du skaičia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55EE49-EA86-604D-B79E-1835648D43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254768" t="1" r="-836988" b="29251"/>
          <a:stretch/>
        </p:blipFill>
        <p:spPr>
          <a:xfrm rot="5400000">
            <a:off x="2198923" y="-847734"/>
            <a:ext cx="454047" cy="48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892914-F5A9-F642-B52A-C75D04F092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32844" y="0"/>
            <a:ext cx="381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8C8245-A0B5-4343-A773-99B1AC5A1C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78535" y="1329925"/>
            <a:ext cx="1104900" cy="254000"/>
          </a:xfrm>
          <a:prstGeom prst="rect">
            <a:avLst/>
          </a:prstGeom>
        </p:spPr>
      </p:pic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24758FE-FB03-7945-8489-CE74EBB534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7810" y="3668711"/>
            <a:ext cx="4361134" cy="27240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7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FA2AC1-A86F-6246-9CF6-463924E7F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500F5A-81CA-2F4B-BDD4-88D7FC1AE05F}"/>
              </a:ext>
            </a:extLst>
          </p:cNvPr>
          <p:cNvSpPr txBox="1"/>
          <p:nvPr userDrawn="1"/>
        </p:nvSpPr>
        <p:spPr>
          <a:xfrm>
            <a:off x="5477810" y="1289465"/>
            <a:ext cx="46048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LT" sz="15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KAUNO TECHNOLOGIJOS UNIVERSITETAS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6224EDB-B787-DE4E-BE6F-8D8484097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373722"/>
            <a:ext cx="4832844" cy="3222561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 algn="ctr">
              <a:buNone/>
              <a:defRPr sz="26000" b="1" i="0">
                <a:ln w="19050">
                  <a:solidFill>
                    <a:schemeClr val="bg1"/>
                  </a:solidFill>
                </a:ln>
                <a:noFill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744837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Šūki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7DEC24-8D93-6D48-A79C-7BDDFFA2B1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3890" y="0"/>
            <a:ext cx="38100" cy="6858000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D1AB869-1A97-C74F-B22C-8C4A3C8553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3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015AA5-A63A-AA42-ACD1-300F08FBDC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-1" r="9663" b="-12809"/>
          <a:stretch/>
        </p:blipFill>
        <p:spPr>
          <a:xfrm>
            <a:off x="0" y="1356723"/>
            <a:ext cx="11013890" cy="214901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10A3938-1C5A-734A-9AEB-AA2A81156F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314565" y="696317"/>
            <a:ext cx="590984" cy="318475"/>
          </a:xfrm>
          <a:prstGeom prst="rect">
            <a:avLst/>
          </a:prstGeom>
        </p:spPr>
      </p:pic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EE7EFB9-58EC-4E46-B135-D34F2910C588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424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Šūki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D1AB869-1A97-C74F-B22C-8C4A3C8553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3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028207-03C6-EB4F-8087-70DFE414C3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B3520C-4886-5844-B632-0EFDEEFA04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BDCAF9-A99D-AB48-B61A-DEA4A9FF6C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1705FAF-CC62-BB49-B817-BC45A057FA08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57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8978606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C3A560-9403-BC49-A5F7-C015081D15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51225"/>
            <a:ext cx="12192000" cy="190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36B143-6BE1-0541-83D6-F872266723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3044" y="696317"/>
            <a:ext cx="590984" cy="31847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E81F693-50CC-E74A-92F2-28556691589B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28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a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CD1856C-F327-BF49-A715-D3258E845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8978606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4B86B12-DA76-274D-9D4F-46D64739DB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4374624"/>
            <a:ext cx="9828212" cy="186072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587BF503-4657-4144-AE5A-7FC3C4A846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3723" y="3048000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Antraštė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6F165C-7173-9B41-9B41-5FC5C0B7D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51225"/>
            <a:ext cx="12192000" cy="190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47D6DC-D91B-A144-80BE-9E55BF0FD1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3222" y="696316"/>
            <a:ext cx="590985" cy="318475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D405FBB-9895-7146-BF23-12D1784B464A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462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as_Dvi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D8A384-C846-7641-BEB4-42006FEB544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497E261-9388-AC42-BFA8-252592EA0D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5FF6581-2E75-F54C-AC74-4CFB30823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EC282FF-8A8E-4743-8FE6-0CBA9BBA69B5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437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as_Dvi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D8A384-C846-7641-BEB4-42006FEB5447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F497E261-9388-AC42-BFA8-252592EA0D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5FF6581-2E75-F54C-AC74-4CFB30823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83568EC-B77A-0E4D-9628-B5B410A3918A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39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224FEE-B2A5-5B45-808C-F0B694341654}"/>
              </a:ext>
            </a:extLst>
          </p:cNvPr>
          <p:cNvSpPr/>
          <p:nvPr userDrawn="1"/>
        </p:nvSpPr>
        <p:spPr>
          <a:xfrm>
            <a:off x="6096001" y="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B72BBEF3-610E-084B-8035-69D7E509C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E145C-81F0-8344-8DEA-9501D7BD7159}"/>
              </a:ext>
            </a:extLst>
          </p:cNvPr>
          <p:cNvSpPr/>
          <p:nvPr userDrawn="1"/>
        </p:nvSpPr>
        <p:spPr>
          <a:xfrm>
            <a:off x="1" y="342900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3E63EFE9-5010-3C45-ABA3-DB0AF79AC1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96277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4E145C-81F0-8344-8DEA-9501D7BD7159}"/>
              </a:ext>
            </a:extLst>
          </p:cNvPr>
          <p:cNvSpPr/>
          <p:nvPr userDrawn="1"/>
        </p:nvSpPr>
        <p:spPr>
          <a:xfrm>
            <a:off x="1" y="-1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224FEE-B2A5-5B45-808C-F0B694341654}"/>
              </a:ext>
            </a:extLst>
          </p:cNvPr>
          <p:cNvSpPr/>
          <p:nvPr userDrawn="1"/>
        </p:nvSpPr>
        <p:spPr>
          <a:xfrm>
            <a:off x="6096001" y="3428998"/>
            <a:ext cx="6095999" cy="3428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T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B72BBEF3-610E-084B-8035-69D7E509C5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3E63EFE9-5010-3C45-ABA3-DB0AF79AC1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36036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  <p15:guide id="19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kstas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E84176-04FD-7E44-80FE-534E00AD68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A2479587-0613-014A-907C-7A6BD40A26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0FAD5EC6-4199-5C46-B4E6-5A8F477342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3654EC9-44A8-5048-83C2-2359A000B8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87ED44B0-B49B-2E43-9448-B9CA2D9A13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2967530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kstas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747910-06FD-4846-B37B-91A91EE5B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719F9151-DC16-CE4F-9309-39250B29EA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C502A480-02A7-4745-AB98-DBF6178125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9DD59F3E-D979-E24A-8E0A-3B87A2DA64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8037D3B-F9E1-394A-A1A9-880049C2F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3597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</p:spTree>
    <p:extLst>
      <p:ext uri="{BB962C8B-B14F-4D97-AF65-F5344CB8AC3E}">
        <p14:creationId xmlns:p14="http://schemas.microsoft.com/office/powerpoint/2010/main" val="1770696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skutinė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6F833E-D503-7449-87CC-B8E383BC6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9021" y="424809"/>
            <a:ext cx="862883" cy="98377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D15DE3A-FC37-F54E-907A-A159B33E94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355" y="2909230"/>
            <a:ext cx="8854531" cy="3534526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0" b="1" i="0">
                <a:solidFill>
                  <a:srgbClr val="FFFF00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Q&amp;A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61843-38B4-D148-99E5-9F4C3E2339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850" y="0"/>
            <a:ext cx="1905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7BC27-E701-EC4E-A29B-BA55A67673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847686" y="3603890"/>
            <a:ext cx="4985555" cy="6436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500" b="1" i="0">
                <a:solidFill>
                  <a:schemeClr val="bg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>
              <a:buNone/>
              <a:defRPr sz="1500" b="0" i="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</a:lstStyle>
          <a:p>
            <a:pPr lvl="0"/>
            <a:r>
              <a:rPr lang="en-GB" dirty="0"/>
              <a:t>UŽ KIEKVIENOS TECHNOLOGIJOS – ŽMOGUS</a:t>
            </a:r>
            <a:endParaRPr lang="en-L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236F9-E2AE-0F43-8E57-369CAB5520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3" r="14257" b="-238517"/>
          <a:stretch/>
        </p:blipFill>
        <p:spPr>
          <a:xfrm>
            <a:off x="0" y="958421"/>
            <a:ext cx="10453816" cy="1289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0B7D9-02D2-AC4C-8368-6F07A5A2E8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93495" y="858795"/>
            <a:ext cx="11049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57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968082D-F45E-1B49-9FC3-AAC24B3207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62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F302F9B-B4B3-B045-8492-FFC9D53025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49388"/>
            <a:ext cx="12192000" cy="54086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90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F302F9B-B4B3-B045-8492-FFC9D53025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49388"/>
            <a:ext cx="12192000" cy="540861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11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i_Foto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10908714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5230BBD-D8AC-0545-A7D5-13382E10E9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177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0D8EEC7-A4A8-754E-B0D5-1BD7DE8A8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8761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18BB3B5-113D-8548-9F2F-322C167FD2BE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Inter Semi Bold" panose="020B0502030000000004" pitchFamily="34" charset="0"/>
              <a:ea typeface="Inter Semi Bold" panose="020B0502030000000004" pitchFamily="34" charset="0"/>
              <a:cs typeface="Inter Semi 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550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i_Foto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0E515E2-7668-514A-A0B4-AC7D06DDB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4" y="600737"/>
            <a:ext cx="10908714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Antraštė</a:t>
            </a:r>
            <a:endParaRPr lang="en-US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5230BBD-D8AC-0545-A7D5-13382E10E9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177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10D8EEC7-A4A8-754E-B0D5-1BD7DE8A81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8761" y="1809749"/>
            <a:ext cx="5181597" cy="433387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6F870C-64A2-4745-A31D-1B11AEC206B2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rPr>
              <a:pPr algn="ctr"/>
              <a:t>‹#›</a:t>
            </a:fld>
            <a:endParaRPr lang="en-US" sz="1400" b="1" i="0">
              <a:solidFill>
                <a:schemeClr val="tx1"/>
              </a:solidFill>
              <a:latin typeface="Inter Semi Bold" panose="020B0502030000000004" pitchFamily="34" charset="0"/>
              <a:ea typeface="Inter Semi Bold" panose="020B0502030000000004" pitchFamily="34" charset="0"/>
              <a:cs typeface="Inter Semi Bold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385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 userDrawn="1">
          <p15:clr>
            <a:srgbClr val="FBAE40"/>
          </p15:clr>
        </p15:guide>
        <p15:guide id="2" pos="1096" userDrawn="1">
          <p15:clr>
            <a:srgbClr val="FBAE40"/>
          </p15:clr>
        </p15:guide>
        <p15:guide id="3" pos="4384" userDrawn="1">
          <p15:clr>
            <a:srgbClr val="FBAE40"/>
          </p15:clr>
        </p15:guide>
        <p15:guide id="4" pos="2184" userDrawn="1">
          <p15:clr>
            <a:srgbClr val="FBAE40"/>
          </p15:clr>
        </p15:guide>
        <p15:guide id="5" pos="3296" userDrawn="1">
          <p15:clr>
            <a:srgbClr val="FBAE40"/>
          </p15:clr>
        </p15:guide>
        <p15:guide id="6" pos="5473" userDrawn="1">
          <p15:clr>
            <a:srgbClr val="FBAE40"/>
          </p15:clr>
        </p15:guide>
        <p15:guide id="8" pos="6584" userDrawn="1">
          <p15:clr>
            <a:srgbClr val="FBAE40"/>
          </p15:clr>
        </p15:guide>
        <p15:guide id="9" pos="6040" userDrawn="1">
          <p15:clr>
            <a:srgbClr val="FBAE40"/>
          </p15:clr>
        </p15:guide>
        <p15:guide id="10" orient="horz" pos="3090" userDrawn="1">
          <p15:clr>
            <a:srgbClr val="FBAE40"/>
          </p15:clr>
        </p15:guide>
        <p15:guide id="11" orient="horz" pos="1842" userDrawn="1">
          <p15:clr>
            <a:srgbClr val="FBAE40"/>
          </p15:clr>
        </p15:guide>
        <p15:guide id="12" orient="horz" pos="1230" userDrawn="1">
          <p15:clr>
            <a:srgbClr val="FBAE40"/>
          </p15:clr>
        </p15:guide>
        <p15:guide id="13" orient="horz" pos="913" userDrawn="1">
          <p15:clr>
            <a:srgbClr val="FBAE40"/>
          </p15:clr>
        </p15:guide>
        <p15:guide id="14" orient="horz" pos="618" userDrawn="1">
          <p15:clr>
            <a:srgbClr val="FBAE40"/>
          </p15:clr>
        </p15:guide>
        <p15:guide id="15" orient="horz" pos="2478" userDrawn="1">
          <p15:clr>
            <a:srgbClr val="FBAE40"/>
          </p15:clr>
        </p15:guide>
        <p15:guide id="16" pos="393" userDrawn="1">
          <p15:clr>
            <a:srgbClr val="FBAE40"/>
          </p15:clr>
        </p15:guide>
        <p15:guide id="17" orient="horz" pos="3929" userDrawn="1">
          <p15:clr>
            <a:srgbClr val="FBAE40"/>
          </p15:clr>
        </p15:guide>
        <p15:guide id="18" orient="horz" pos="36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Tekstas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B5F1E7A3-042D-1A41-A4EE-C4B741F2F9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393B77B-8341-1C44-8B13-EC418665B4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87791077-CFD2-474A-ADBD-B95943A9190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D9565FE-3CF5-C940-8534-EF27E7FE6B39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432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_Antraštė_Tekstas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2E6D4784-2EA3-C74A-80A6-6E53A3459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5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5592035A-2271-5843-9AF4-E3E9FDCF0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37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960C207-DFB8-7C44-BEFE-3C8BB4B229DC}"/>
              </a:ext>
            </a:extLst>
          </p:cNvPr>
          <p:cNvSpPr txBox="1">
            <a:spLocks/>
          </p:cNvSpPr>
          <p:nvPr userDrawn="1"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i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787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raštė_Tekstas_Foto_Juo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66AC166F-BD2D-6D49-902E-EA2D168F6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1CCD885-C1EB-3A48-B8A0-CC1F23EEB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</p:spTree>
    <p:extLst>
      <p:ext uri="{BB962C8B-B14F-4D97-AF65-F5344CB8AC3E}">
        <p14:creationId xmlns:p14="http://schemas.microsoft.com/office/powerpoint/2010/main" val="1562306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raštė_Tekstas_Foto_Bal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FB2BAA7-03FA-7D45-B48B-16E2EB979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96000" y="1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66AC166F-BD2D-6D49-902E-EA2D168F6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9930" y="2924175"/>
            <a:ext cx="4922888" cy="33111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1CCD885-C1EB-3A48-B8A0-CC1F23EEB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645" y="600737"/>
            <a:ext cx="4921173" cy="5096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ANTRAŠTĖ</a:t>
            </a:r>
          </a:p>
        </p:txBody>
      </p:sp>
    </p:spTree>
    <p:extLst>
      <p:ext uri="{BB962C8B-B14F-4D97-AF65-F5344CB8AC3E}">
        <p14:creationId xmlns:p14="http://schemas.microsoft.com/office/powerpoint/2010/main" val="3322117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to_Antraštė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42900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98993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to_Antraštė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342900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342900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899158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to_Antraštė_Keturios daly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3428998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3429003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19705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oto_Antraštė_Keturios daly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D95773F8-D068-1F4A-994E-CAA5A3CA9D7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69113ABE-874B-0647-8AAD-DE5BA4A26C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7" y="3428998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AFEA5EF-7EB5-B242-B569-0521DECA7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9600" y="0"/>
            <a:ext cx="4534568" cy="342899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lt-LT" dirty="0"/>
              <a:t>Tekstas</a:t>
            </a:r>
          </a:p>
          <a:p>
            <a:pPr lvl="0"/>
            <a:r>
              <a:rPr lang="lt-LT" dirty="0"/>
              <a:t>antra eilutė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52F83555-CE96-6D4C-89FF-4953A94371F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6000" y="3429003"/>
            <a:ext cx="6096000" cy="3428997"/>
          </a:xfrm>
          <a:prstGeom prst="rect">
            <a:avLst/>
          </a:prstGeom>
        </p:spPr>
        <p:txBody>
          <a:bodyPr/>
          <a:lstStyle/>
          <a:p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91177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2">
          <p15:clr>
            <a:srgbClr val="FBAE40"/>
          </p15:clr>
        </p15:guide>
        <p15:guide id="2" pos="1096">
          <p15:clr>
            <a:srgbClr val="FBAE40"/>
          </p15:clr>
        </p15:guide>
        <p15:guide id="3" pos="4384">
          <p15:clr>
            <a:srgbClr val="FBAE40"/>
          </p15:clr>
        </p15:guide>
        <p15:guide id="4" pos="2184">
          <p15:clr>
            <a:srgbClr val="FBAE40"/>
          </p15:clr>
        </p15:guide>
        <p15:guide id="5" pos="3296">
          <p15:clr>
            <a:srgbClr val="FBAE40"/>
          </p15:clr>
        </p15:guide>
        <p15:guide id="6" pos="5473">
          <p15:clr>
            <a:srgbClr val="FBAE40"/>
          </p15:clr>
        </p15:guide>
        <p15:guide id="8" pos="6584">
          <p15:clr>
            <a:srgbClr val="FBAE40"/>
          </p15:clr>
        </p15:guide>
        <p15:guide id="9" pos="6040">
          <p15:clr>
            <a:srgbClr val="FBAE40"/>
          </p15:clr>
        </p15:guide>
        <p15:guide id="10" orient="horz" pos="3090">
          <p15:clr>
            <a:srgbClr val="FBAE40"/>
          </p15:clr>
        </p15:guide>
        <p15:guide id="11" orient="horz" pos="1842">
          <p15:clr>
            <a:srgbClr val="FBAE40"/>
          </p15:clr>
        </p15:guide>
        <p15:guide id="12" orient="horz" pos="1230">
          <p15:clr>
            <a:srgbClr val="FBAE40"/>
          </p15:clr>
        </p15:guide>
        <p15:guide id="13" orient="horz" pos="913">
          <p15:clr>
            <a:srgbClr val="FBAE40"/>
          </p15:clr>
        </p15:guide>
        <p15:guide id="14" orient="horz" pos="618">
          <p15:clr>
            <a:srgbClr val="FBAE40"/>
          </p15:clr>
        </p15:guide>
        <p15:guide id="15" orient="horz" pos="2478">
          <p15:clr>
            <a:srgbClr val="FBAE40"/>
          </p15:clr>
        </p15:guide>
        <p15:guide id="16" pos="393">
          <p15:clr>
            <a:srgbClr val="FBAE40"/>
          </p15:clr>
        </p15:guide>
        <p15:guide id="17" orient="horz" pos="3929">
          <p15:clr>
            <a:srgbClr val="FBAE40"/>
          </p15:clr>
        </p15:guide>
        <p15:guide id="18" orient="horz" pos="368">
          <p15:clr>
            <a:srgbClr val="FBAE40"/>
          </p15:clr>
        </p15:guide>
        <p15:guide id="19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a_Juodas fon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B4F772-2275-974B-AA4E-C0D2280B6421}"/>
              </a:ext>
            </a:extLst>
          </p:cNvPr>
          <p:cNvSpPr txBox="1"/>
          <p:nvPr userDrawn="1"/>
        </p:nvSpPr>
        <p:spPr>
          <a:xfrm>
            <a:off x="1279922" y="403225"/>
            <a:ext cx="9632156" cy="198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>
              <a:solidFill>
                <a:srgbClr val="FFFF00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diagramą: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b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>
              <a:solidFill>
                <a:schemeClr val="bg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i="0">
                <a:solidFill>
                  <a:schemeClr val="bg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diagramos turi būti kuriamos remiantis esama stilistika.</a:t>
            </a:r>
            <a:endParaRPr lang="en-US" b="1" i="0">
              <a:solidFill>
                <a:schemeClr val="bg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ECDE41A-C15A-8C4B-A12D-1A07B994E01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983733450"/>
              </p:ext>
            </p:extLst>
          </p:nvPr>
        </p:nvGraphicFramePr>
        <p:xfrm>
          <a:off x="988701" y="2767449"/>
          <a:ext cx="5988569" cy="38992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E189536-B994-8B44-9AD6-1E9B3000F88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1667176"/>
              </p:ext>
            </p:extLst>
          </p:nvPr>
        </p:nvGraphicFramePr>
        <p:xfrm>
          <a:off x="7585316" y="3085203"/>
          <a:ext cx="4006368" cy="358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2310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a_Baltas fo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2D502-64E2-DE49-8A59-1D3013B76A6E}"/>
              </a:ext>
            </a:extLst>
          </p:cNvPr>
          <p:cNvSpPr txBox="1"/>
          <p:nvPr userDrawn="1"/>
        </p:nvSpPr>
        <p:spPr>
          <a:xfrm>
            <a:off x="1279922" y="403225"/>
            <a:ext cx="9632156" cy="198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diagramą:</a:t>
            </a: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b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diagramą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>
              <a:solidFill>
                <a:schemeClr val="tx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lt-LT" b="1" i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t>Visos kitos diagramos turi būti kuriamos remiantis esama stilistika.</a:t>
            </a:r>
            <a:endParaRPr lang="en-US" b="1" i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EE4845D-B78D-4A46-9763-62D727630EA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737979793"/>
              </p:ext>
            </p:extLst>
          </p:nvPr>
        </p:nvGraphicFramePr>
        <p:xfrm>
          <a:off x="988701" y="2763075"/>
          <a:ext cx="5995285" cy="3903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A0CB8A1-1010-EC4F-B6C5-EFB7467F76E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245475880"/>
              </p:ext>
            </p:extLst>
          </p:nvPr>
        </p:nvGraphicFramePr>
        <p:xfrm>
          <a:off x="7585316" y="3085203"/>
          <a:ext cx="4006368" cy="358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810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_Juodas fon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A4775A3-EB07-A141-A562-5216ADEA360A}"/>
              </a:ext>
            </a:extLst>
          </p:cNvPr>
          <p:cNvSpPr txBox="1"/>
          <p:nvPr userDrawn="1"/>
        </p:nvSpPr>
        <p:spPr>
          <a:xfrm>
            <a:off x="1102519" y="698500"/>
            <a:ext cx="9986962" cy="153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>
              <a:solidFill>
                <a:srgbClr val="FFFF00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lt-LT" b="0" i="0">
                <a:solidFill>
                  <a:schemeClr val="bg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lentelę: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b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>
                <a:solidFill>
                  <a:srgbClr val="FFFF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>
              <a:solidFill>
                <a:schemeClr val="bg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DCF25F-588F-FA48-A5FB-9F332A23BA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31052889"/>
              </p:ext>
            </p:extLst>
          </p:nvPr>
        </p:nvGraphicFramePr>
        <p:xfrm>
          <a:off x="947737" y="2736570"/>
          <a:ext cx="10077314" cy="34750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463">
                  <a:extLst>
                    <a:ext uri="{9D8B030D-6E8A-4147-A177-3AD203B41FA5}">
                      <a16:colId xmlns:a16="http://schemas.microsoft.com/office/drawing/2014/main" val="553379762"/>
                    </a:ext>
                  </a:extLst>
                </a:gridCol>
                <a:gridCol w="5672183">
                  <a:extLst>
                    <a:ext uri="{9D8B030D-6E8A-4147-A177-3AD203B41FA5}">
                      <a16:colId xmlns:a16="http://schemas.microsoft.com/office/drawing/2014/main" val="2887563481"/>
                    </a:ext>
                  </a:extLst>
                </a:gridCol>
                <a:gridCol w="2632166">
                  <a:extLst>
                    <a:ext uri="{9D8B030D-6E8A-4147-A177-3AD203B41FA5}">
                      <a16:colId xmlns:a16="http://schemas.microsoft.com/office/drawing/2014/main" val="1877026651"/>
                    </a:ext>
                  </a:extLst>
                </a:gridCol>
                <a:gridCol w="1247502">
                  <a:extLst>
                    <a:ext uri="{9D8B030D-6E8A-4147-A177-3AD203B41FA5}">
                      <a16:colId xmlns:a16="http://schemas.microsoft.com/office/drawing/2014/main" val="2481374449"/>
                    </a:ext>
                  </a:extLst>
                </a:gridCol>
              </a:tblGrid>
              <a:tr h="695007">
                <a:tc>
                  <a:txBody>
                    <a:bodyPr/>
                    <a:lstStyle/>
                    <a:p>
                      <a:r>
                        <a:rPr lang="en-US" sz="1500" b="1" i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Nr.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Magna aliquam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Enim ad minim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Iriure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61061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Aoreet dolore magna aliquam erat volutpat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Praesent luptatum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4893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Ut wisi enim ad minim veniam, quis nostrud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Dolore te feugait nul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09185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Exerci tation ullamcorper suscipit lobortis nisl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Augue duis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08814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Duis autem vel eum iriure dolor 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Te feugait nulla facilisi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rgbClr val="FFFF00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0871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ntelė_Baltas fo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245F59-08C9-D44E-AAB0-68B4A977944C}"/>
              </a:ext>
            </a:extLst>
          </p:cNvPr>
          <p:cNvSpPr txBox="1"/>
          <p:nvPr userDrawn="1"/>
        </p:nvSpPr>
        <p:spPr>
          <a:xfrm>
            <a:off x="1102519" y="698500"/>
            <a:ext cx="9986962" cy="153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  <a:spcAft>
                <a:spcPts val="1200"/>
              </a:spcAft>
            </a:pPr>
            <a:r>
              <a:rPr lang="en-GB" sz="1800" b="1" i="0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SVARBU (ŠITA SKAIDRĖ NĖRA ŠABLONO DALIS)</a:t>
            </a:r>
            <a:endParaRPr lang="lt-LT" b="1" i="0">
              <a:solidFill>
                <a:schemeClr val="tx1"/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lt-LT" b="0" i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 lentelę: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1.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Nueikite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View panel </a:t>
            </a: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2.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 </a:t>
            </a: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3.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Nusikopijuokite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b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</a:b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4.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Uždarykite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Slide Master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: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pasirinkite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1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Normal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1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5.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Įklijuokite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lentelę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savo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</a:t>
            </a:r>
            <a:r>
              <a:rPr lang="en-GB" sz="1600" b="0" i="0" u="none" strike="noStrike" kern="120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skaidrėje</a:t>
            </a:r>
            <a:r>
              <a:rPr lang="en-GB" sz="1600" b="0" i="0" u="none" strike="noStrike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.</a:t>
            </a:r>
            <a:endParaRPr lang="lt-LT" sz="1600" b="0" i="0" u="none" strike="noStrike" kern="1200">
              <a:solidFill>
                <a:schemeClr val="tx1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D29DF7-224A-0946-B65F-B6854B3ABD9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36463211"/>
              </p:ext>
            </p:extLst>
          </p:nvPr>
        </p:nvGraphicFramePr>
        <p:xfrm>
          <a:off x="947737" y="2736570"/>
          <a:ext cx="10279789" cy="34750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8366">
                  <a:extLst>
                    <a:ext uri="{9D8B030D-6E8A-4147-A177-3AD203B41FA5}">
                      <a16:colId xmlns:a16="http://schemas.microsoft.com/office/drawing/2014/main" val="553379762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887563481"/>
                    </a:ext>
                  </a:extLst>
                </a:gridCol>
                <a:gridCol w="2625634">
                  <a:extLst>
                    <a:ext uri="{9D8B030D-6E8A-4147-A177-3AD203B41FA5}">
                      <a16:colId xmlns:a16="http://schemas.microsoft.com/office/drawing/2014/main" val="1877026651"/>
                    </a:ext>
                  </a:extLst>
                </a:gridCol>
                <a:gridCol w="1456509">
                  <a:extLst>
                    <a:ext uri="{9D8B030D-6E8A-4147-A177-3AD203B41FA5}">
                      <a16:colId xmlns:a16="http://schemas.microsoft.com/office/drawing/2014/main" val="2481374449"/>
                    </a:ext>
                  </a:extLst>
                </a:gridCol>
              </a:tblGrid>
              <a:tr h="695007">
                <a:tc>
                  <a:txBody>
                    <a:bodyPr/>
                    <a:lstStyle/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Nr.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Magna aliquam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Enim ad minim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Iriure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261061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Aoreet dolore magna aliquam erat volutpat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Praesent luptatum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+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4893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Ut wisi enim ad minim veniam, quis nostrud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Dolore te feugait nul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109185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Exerci tation ullamcorper suscipit lobortis nisl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Augue duis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808814"/>
                  </a:ext>
                </a:extLst>
              </a:tr>
              <a:tr h="695007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Duis autem vel eum iriure dolor 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Te feugait nulla facilisi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Inter" panose="020B05020300000000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108000" marR="108000" marT="54000" marB="54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44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7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4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44" r:id="rId2"/>
    <p:sldLayoutId id="2147483745" r:id="rId3"/>
    <p:sldLayoutId id="2147483712" r:id="rId4"/>
    <p:sldLayoutId id="2147483714" r:id="rId5"/>
    <p:sldLayoutId id="2147483715" r:id="rId6"/>
    <p:sldLayoutId id="2147483716" r:id="rId7"/>
    <p:sldLayoutId id="2147483723" r:id="rId8"/>
    <p:sldLayoutId id="2147483737" r:id="rId9"/>
    <p:sldLayoutId id="2147483738" r:id="rId10"/>
    <p:sldLayoutId id="2147483717" r:id="rId11"/>
    <p:sldLayoutId id="2147483718" r:id="rId12"/>
    <p:sldLayoutId id="2147483719" r:id="rId13"/>
    <p:sldLayoutId id="2147483720" r:id="rId14"/>
    <p:sldLayoutId id="2147483677" r:id="rId15"/>
    <p:sldLayoutId id="2147483739" r:id="rId16"/>
    <p:sldLayoutId id="214748374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55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42" r:id="rId7"/>
    <p:sldLayoutId id="2147483732" r:id="rId8"/>
    <p:sldLayoutId id="2147483731" r:id="rId9"/>
    <p:sldLayoutId id="2147483733" r:id="rId10"/>
    <p:sldLayoutId id="2147483734" r:id="rId11"/>
    <p:sldLayoutId id="2147483735" r:id="rId12"/>
    <p:sldLayoutId id="214748373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67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cademia.edu/figures/17019577/table-4-strengths-and-limitations-of-fer-techniques" TargetMode="External"/><Relationship Id="rId3" Type="http://schemas.openxmlformats.org/officeDocument/2006/relationships/hyperlink" Target="https://mediapipe.readthedocs.io/en/latest/solutions/face_detection.html" TargetMode="External"/><Relationship Id="rId7" Type="http://schemas.openxmlformats.org/officeDocument/2006/relationships/hyperlink" Target="https://peerj.com/articles/cs-2024/" TargetMode="External"/><Relationship Id="rId2" Type="http://schemas.openxmlformats.org/officeDocument/2006/relationships/hyperlink" Target="https://encord.com/blog/google-mediapipe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buggercafe.com/face-detection-with-dlib-using-cnn/" TargetMode="External"/><Relationship Id="rId11" Type="http://schemas.openxmlformats.org/officeDocument/2006/relationships/image" Target="../media/image13.emf"/><Relationship Id="rId5" Type="http://schemas.openxmlformats.org/officeDocument/2006/relationships/hyperlink" Target="https://learnopencv.com/face-detection-opencv-dlib-and-deep-learning-c-python/" TargetMode="External"/><Relationship Id="rId10" Type="http://schemas.openxmlformats.org/officeDocument/2006/relationships/image" Target="../media/image12.emf"/><Relationship Id="rId4" Type="http://schemas.openxmlformats.org/officeDocument/2006/relationships/hyperlink" Target="https://medium.com/sciforce/face-detection-explained-state-of-the-art-methods-and-best-tools-f730fca16294" TargetMode="External"/><Relationship Id="rId9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ai-foundry/responsible-ai/face/characteristics-and-limitations" TargetMode="External"/><Relationship Id="rId3" Type="http://schemas.openxmlformats.org/officeDocument/2006/relationships/hyperlink" Target="https://www.itqlick.com/affectiva" TargetMode="External"/><Relationship Id="rId7" Type="http://schemas.openxmlformats.org/officeDocument/2006/relationships/hyperlink" Target="https://www.theknowledgeacademy.com/blog/face-detection-with-opencv" TargetMode="External"/><Relationship Id="rId12" Type="http://schemas.openxmlformats.org/officeDocument/2006/relationships/image" Target="../media/image13.emf"/><Relationship Id="rId2" Type="http://schemas.openxmlformats.org/officeDocument/2006/relationships/hyperlink" Target="https://go.smarteye.se/emotion-ai-101-all-about-emotion-detection-and-affectivas-emotion-metrics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techskillguru.com/opencv/advantages-and-disadvantages-of-opencv" TargetMode="External"/><Relationship Id="rId11" Type="http://schemas.openxmlformats.org/officeDocument/2006/relationships/image" Target="../media/image12.emf"/><Relationship Id="rId5" Type="http://schemas.openxmlformats.org/officeDocument/2006/relationships/hyperlink" Target="https://news.ycombinator.com/item?id=42584896" TargetMode="External"/><Relationship Id="rId10" Type="http://schemas.openxmlformats.org/officeDocument/2006/relationships/image" Target="../media/image11.emf"/><Relationship Id="rId4" Type="http://schemas.openxmlformats.org/officeDocument/2006/relationships/hyperlink" Target="https://learnopencv.com/face-recognition-models" TargetMode="External"/><Relationship Id="rId9" Type="http://schemas.openxmlformats.org/officeDocument/2006/relationships/hyperlink" Target="https://learn.microsoft.com/en-us/azure/ai-services/computer-vision/identity-quotas-limi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3FFCAE4-A5B0-CC4A-A0A2-7EE0AEA8E284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CIDM MT4 - System for Video Meeting Monitoring and Emotion Evaluation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DED3-3155-614C-8E96-7212F102B0E8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UŽ KIEKVIENOS TECHNOLOGIJOS – ŽMOGUS</a:t>
            </a:r>
            <a:endParaRPr lang="en-L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B08FEDB7-C049-0345-B8A0-17484B485681}"/>
              </a:ext>
            </a:extLst>
          </p:cNvPr>
          <p:cNvSpPr txBox="1">
            <a:spLocks/>
          </p:cNvSpPr>
          <p:nvPr/>
        </p:nvSpPr>
        <p:spPr>
          <a:xfrm>
            <a:off x="639930" y="4579026"/>
            <a:ext cx="9546664" cy="186072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t-LT" b="1" dirty="0"/>
              <a:t>Group </a:t>
            </a:r>
            <a:r>
              <a:rPr lang="en-US" b="1" noProof="0" dirty="0"/>
              <a:t>Members</a:t>
            </a:r>
          </a:p>
          <a:p>
            <a:r>
              <a:rPr lang="lt-LT" dirty="0" err="1"/>
              <a:t>Anthony</a:t>
            </a:r>
            <a:r>
              <a:rPr lang="lt-LT" dirty="0"/>
              <a:t> </a:t>
            </a:r>
            <a:r>
              <a:rPr lang="lt-LT" dirty="0" err="1"/>
              <a:t>Evans</a:t>
            </a:r>
            <a:r>
              <a:rPr lang="lt-LT" dirty="0"/>
              <a:t> </a:t>
            </a:r>
            <a:r>
              <a:rPr lang="lt-LT" dirty="0" err="1"/>
              <a:t>Weerawardene</a:t>
            </a:r>
            <a:endParaRPr lang="lt-LT" dirty="0"/>
          </a:p>
          <a:p>
            <a:r>
              <a:rPr lang="lt-LT" dirty="0"/>
              <a:t>Champika Shyamali Gunawardhana Ismala Hakuruge</a:t>
            </a:r>
            <a:endParaRPr lang="lt-LT" b="1" dirty="0"/>
          </a:p>
          <a:p>
            <a:r>
              <a:rPr lang="lt-LT" dirty="0" err="1"/>
              <a:t>Hariharan</a:t>
            </a:r>
            <a:r>
              <a:rPr lang="lt-LT" dirty="0"/>
              <a:t> </a:t>
            </a:r>
            <a:r>
              <a:rPr lang="lt-LT" dirty="0" err="1"/>
              <a:t>Adaikkappan</a:t>
            </a:r>
            <a:endParaRPr lang="lt-LT" dirty="0"/>
          </a:p>
          <a:p>
            <a:r>
              <a:rPr lang="lt-LT" dirty="0" err="1"/>
              <a:t>Rakhi</a:t>
            </a:r>
            <a:r>
              <a:rPr lang="lt-LT" dirty="0"/>
              <a:t> </a:t>
            </a:r>
            <a:r>
              <a:rPr lang="lt-LT" dirty="0" err="1"/>
              <a:t>Krishnan</a:t>
            </a:r>
            <a:r>
              <a:rPr lang="lt-LT" dirty="0"/>
              <a:t> </a:t>
            </a:r>
            <a:r>
              <a:rPr lang="lt-LT" dirty="0" err="1"/>
              <a:t>Radhakrishnan</a:t>
            </a:r>
            <a:endParaRPr lang="lt-LT" dirty="0"/>
          </a:p>
          <a:p>
            <a:r>
              <a:rPr lang="lt-LT" dirty="0" err="1">
                <a:latin typeface="Arial"/>
                <a:cs typeface="Arial"/>
              </a:rPr>
              <a:t>Yogaselvan</a:t>
            </a:r>
            <a:r>
              <a:rPr lang="lt-LT" dirty="0">
                <a:latin typeface="Arial"/>
                <a:cs typeface="Arial"/>
              </a:rPr>
              <a:t> </a:t>
            </a:r>
            <a:r>
              <a:rPr lang="lt-LT" dirty="0" err="1">
                <a:latin typeface="Arial"/>
                <a:cs typeface="Arial"/>
              </a:rPr>
              <a:t>Saravanan</a:t>
            </a:r>
            <a:endParaRPr lang="lt-LT" dirty="0" err="1"/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D335FC-89FC-0D40-837C-DFD23905E7F8}"/>
              </a:ext>
            </a:extLst>
          </p:cNvPr>
          <p:cNvSpPr txBox="1">
            <a:spLocks/>
          </p:cNvSpPr>
          <p:nvPr/>
        </p:nvSpPr>
        <p:spPr>
          <a:xfrm>
            <a:off x="643723" y="3166338"/>
            <a:ext cx="9828212" cy="101934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2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Lecturer</a:t>
            </a:r>
          </a:p>
          <a:p>
            <a:r>
              <a:rPr lang="lt-LT" b="0" dirty="0"/>
              <a:t>Prof. Dalia </a:t>
            </a:r>
            <a:r>
              <a:rPr lang="lt-LT" b="0" dirty="0" err="1"/>
              <a:t>Čalnerytė</a:t>
            </a:r>
            <a:endParaRPr lang="lt-LT" b="0" dirty="0"/>
          </a:p>
          <a:p>
            <a:r>
              <a:rPr lang="lt-LT" b="0" dirty="0" err="1"/>
              <a:t>Assoc</a:t>
            </a:r>
            <a:r>
              <a:rPr lang="lt-LT" b="0" dirty="0"/>
              <a:t>. Prof. Andrius Kriščiūnas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D0070-EA15-1546-8ABA-C298D8409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048AC-E386-D140-990D-A0F5398AF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06EAE1-AC92-714B-AC11-7893905C97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467477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B346149-C025-084D-9F3F-94C4EFE3F60E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30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86FF2-CF75-76EB-4694-6C29DC41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713CBD4-C755-E59B-3EB3-E169E03BBF78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D10BE-81B8-6C13-0670-7BFA21CCC213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0B9426B1-207D-F905-D08D-F8995297E6B5}"/>
              </a:ext>
            </a:extLst>
          </p:cNvPr>
          <p:cNvSpPr txBox="1">
            <a:spLocks/>
          </p:cNvSpPr>
          <p:nvPr/>
        </p:nvSpPr>
        <p:spPr>
          <a:xfrm>
            <a:off x="639930" y="2266124"/>
            <a:ext cx="10255320" cy="419922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system analyzes video meetings either in real time or from recorded sessions.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It detects participants' facial expressions, attention levels, and behavior cues.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Emotions such as attentive, bored, interested, neutral are classified automatically.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Engagement levels are tracked over time and combined into an engagement map.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map highlights how the audience reacted at different points of the meeting.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goal is to provide objective, data-driven feedback for presenters, teachers, and meeting organizers.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6AC26-F630-245D-DE68-4C7744B4A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BAAC45-76BD-C7C8-AA23-5918CA292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BF9909-6A9E-BC79-2916-96315E0E0E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9342A90-6A51-C29B-B5D9-701C965F5055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2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24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30C63-0960-4673-F112-698F8279E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F6D6205-3592-EFA8-BBDE-901AADD188A1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D2C11-18AF-9A7B-73B1-DF461E8D96EB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3818E6-AF21-97BB-87E1-68AB9C0A9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3E811D-787A-52C4-2D7D-424AF435A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A85256-4343-2765-A673-74FDDD001D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BE85BE3-17D3-4839-F78B-8CC2FE5AEB3B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3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A994C701-A265-9D54-08C9-55E64E087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082" y="1754310"/>
            <a:ext cx="10251933" cy="441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59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66FBD-834E-7F4B-F143-292E84C4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CFB5518-5FFE-D63F-6FF9-A1B1D4A105C0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Implementation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948CE-5196-0530-39FA-6E42EC08D5D6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3E2B261B-3D84-F634-934B-D16EDCC2AC00}"/>
              </a:ext>
            </a:extLst>
          </p:cNvPr>
          <p:cNvSpPr txBox="1">
            <a:spLocks/>
          </p:cNvSpPr>
          <p:nvPr/>
        </p:nvSpPr>
        <p:spPr>
          <a:xfrm>
            <a:off x="639930" y="2266124"/>
            <a:ext cx="9828212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There are 2 main approaches has been implemented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Offline Emotion detection</a:t>
            </a:r>
          </a:p>
          <a:p>
            <a:pPr marL="800100" lvl="2" indent="-342900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Select processing method (Local - deployed server or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100" lvl="2" indent="-342900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Select a video to process</a:t>
            </a:r>
          </a:p>
          <a:p>
            <a:pPr marL="800100" lvl="2" indent="-342900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Process the video and show the processed video along with graphs of emotions detected.</a:t>
            </a:r>
          </a:p>
          <a:p>
            <a:pPr marL="342900" lvl="1" indent="-342900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Online(real time) Emotion detection</a:t>
            </a:r>
          </a:p>
          <a:p>
            <a:pPr marL="800100" lvl="2" indent="-342900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 Chrome extension is implemented</a:t>
            </a:r>
          </a:p>
          <a:p>
            <a:pPr marL="800100" lvl="2" indent="-342900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share the browser tab related to meeting</a:t>
            </a:r>
          </a:p>
          <a:p>
            <a:pPr marL="800100" lvl="2" indent="-342900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Extension sends server frame for every 10 and process real time</a:t>
            </a:r>
          </a:p>
          <a:p>
            <a:pPr marL="800100" lvl="2" indent="-342900">
              <a:lnSpc>
                <a:spcPct val="110000"/>
              </a:lnSpc>
              <a:spcBef>
                <a:spcPts val="0"/>
              </a:spcBef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csv based on the emotion detected can be downloaded.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FDFF4-7204-ADE4-A3F7-F08236CDB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AC3F5E-41EC-9287-CA87-DCC87E312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533FA7-8721-6154-A2B6-4C76A6F8F7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936E268-FA63-4198-D956-8B1F5489AFB1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4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610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9E928-0144-515D-FD72-A1BD88AC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D62C87A-4FE0-D21A-30C2-1736603F92BC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Face Detection &amp; Tracking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8ABA2-EEFD-1DEC-4404-F1F92364AC4A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E45139C2-BA15-C176-3C2A-E1B04AD77D7F}"/>
              </a:ext>
            </a:extLst>
          </p:cNvPr>
          <p:cNvSpPr txBox="1">
            <a:spLocks/>
          </p:cNvSpPr>
          <p:nvPr/>
        </p:nvSpPr>
        <p:spPr>
          <a:xfrm>
            <a:off x="639930" y="2266124"/>
            <a:ext cx="9828212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OpenCV handles frame-by-frame video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VideoCapture</a:t>
            </a:r>
            <a:r>
              <a:rPr lang="en-US" sz="2200" dirty="0"/>
              <a:t> reads input, </a:t>
            </a:r>
            <a:r>
              <a:rPr lang="en-US" sz="2200" dirty="0" err="1"/>
              <a:t>VideoWriter</a:t>
            </a:r>
            <a:r>
              <a:rPr lang="en-US" sz="2200" dirty="0"/>
              <a:t> saves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Face regions cropped and bounding boxes drawn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InsightFace</a:t>
            </a:r>
            <a:r>
              <a:rPr lang="en-US" sz="2200" dirty="0"/>
              <a:t> </a:t>
            </a:r>
            <a:r>
              <a:rPr lang="en-US" sz="2200" dirty="0" err="1"/>
              <a:t>FaceAnalysis</a:t>
            </a:r>
            <a:r>
              <a:rPr lang="en-US" sz="2200" dirty="0"/>
              <a:t> used for face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Buffollo_s</a:t>
            </a:r>
            <a:r>
              <a:rPr lang="en-US" sz="2200"/>
              <a:t> model is used to recognize faces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512-D </a:t>
            </a:r>
            <a:r>
              <a:rPr lang="en-US" sz="2200" dirty="0"/>
              <a:t>facial embeddings extracted per 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Embeddings support identity tracking across frames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F6AB73-FC30-AC46-2FEE-7AD74F12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BA89EB-598F-0054-3CC5-A2E52C31C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F13884-72BE-40EA-FDF7-C38035CC14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229FD94-A8D1-47A3-1E7B-540B7BB5535A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5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35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21EC6-28B5-174F-4FD5-FE7BFBB1A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AE0FD60-A192-8575-8F18-2FE2203D4F2C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Outputs (Face Recognitions)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816CE-47E9-4309-DBEE-F9590B5329CE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CF4AC-15B7-20E0-EE92-27FA7DEF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3A5EC6-ED1B-1685-A7EC-C195B2B86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877531-5B11-00E0-E066-7DDF57E357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6825F2E-0347-7AC4-EC97-85B6E331C297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6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6B2BA7-FE87-F0C8-6D3C-36A79C949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790" y="2018378"/>
            <a:ext cx="6612864" cy="3721456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265D71D2-788D-B2B3-F3FD-E702ED1D2349}"/>
              </a:ext>
            </a:extLst>
          </p:cNvPr>
          <p:cNvSpPr txBox="1">
            <a:spLocks/>
          </p:cNvSpPr>
          <p:nvPr/>
        </p:nvSpPr>
        <p:spPr>
          <a:xfrm>
            <a:off x="641643" y="1957712"/>
            <a:ext cx="3456703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Each person is detected and assigned a unique ID.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The same ID is maintained across consecutive frames.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This enables continuous tracking of individuals over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Tracking remains stable despite movement or facial expression changes.</a:t>
            </a:r>
          </a:p>
        </p:txBody>
      </p:sp>
    </p:spTree>
    <p:extLst>
      <p:ext uri="{BB962C8B-B14F-4D97-AF65-F5344CB8AC3E}">
        <p14:creationId xmlns:p14="http://schemas.microsoft.com/office/powerpoint/2010/main" val="12704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2654-C309-02D4-6DCF-584A1E563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5A1FF22-624C-B5AE-4276-727782ED8C7F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Emotion Recognition &amp; Acceleration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8DB2C-122B-0DD7-6DE9-CE5FAAEB084E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7FD4DFD0-51BE-95F5-4FE2-09F1F230AAAC}"/>
              </a:ext>
            </a:extLst>
          </p:cNvPr>
          <p:cNvSpPr txBox="1">
            <a:spLocks/>
          </p:cNvSpPr>
          <p:nvPr/>
        </p:nvSpPr>
        <p:spPr>
          <a:xfrm>
            <a:off x="639930" y="2266124"/>
            <a:ext cx="9828212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DeepFace</a:t>
            </a:r>
            <a:r>
              <a:rPr lang="en-US" sz="2200" dirty="0"/>
              <a:t> used only for emotion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Predicts dominant emotion per detected 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Provides confidence scores for all emotions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Emotion analysis done on cropped face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ONNX Runtime enables CUDA GPU acceleration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Speeds up </a:t>
            </a:r>
            <a:r>
              <a:rPr lang="en-US" sz="2200" dirty="0" err="1"/>
              <a:t>InsightFace</a:t>
            </a:r>
            <a:r>
              <a:rPr lang="en-US" sz="2200" dirty="0"/>
              <a:t> model inference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42601-A6A9-B630-944F-332F77B06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919650-E4CA-BCCE-18C7-EC5B7089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3C036B-3DF6-2AE2-F114-7DC2CE32E1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D5C7117-34BA-323A-2E03-52ED2C81FD77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7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762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D15CF-127C-E306-2C50-F1CF6A3C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334CE8B-1910-B59F-7B98-7A6F9661C0B5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Emotion </a:t>
            </a:r>
            <a:r>
              <a:rPr lang="en-GB" dirty="0" err="1"/>
              <a:t>Color</a:t>
            </a:r>
            <a:r>
              <a:rPr lang="en-GB" dirty="0"/>
              <a:t> Palette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1E544-7533-ADAD-06DC-ECB4C0D79A64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59D136-F715-0436-FF61-CA0BD0E6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F32CC2-491D-BD6E-B27E-2DA8AEE39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79895C-92D9-1676-1F32-86D55EE0D5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BCEC061-0165-5213-0BC8-970821B4A883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8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6D65B65D-989A-D49B-EEAF-B82253521C94}"/>
              </a:ext>
            </a:extLst>
          </p:cNvPr>
          <p:cNvSpPr txBox="1">
            <a:spLocks/>
          </p:cNvSpPr>
          <p:nvPr/>
        </p:nvSpPr>
        <p:spPr>
          <a:xfrm>
            <a:off x="641643" y="3839045"/>
            <a:ext cx="9793747" cy="227652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Defined 7 emotions based on common human emotions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For each emotions, a color is assigned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All graphs are using this color </a:t>
            </a:r>
            <a:r>
              <a:rPr lang="en-US" sz="1800" dirty="0" err="1"/>
              <a:t>palatte</a:t>
            </a: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38FC3E-9FC1-7943-5728-5D060DBF0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71" y="1764318"/>
            <a:ext cx="9678390" cy="166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87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381A-08F8-FFAE-C0D2-E6F58D09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801757C-1538-875F-081E-451DEEA7BA19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Outputs – Offline Emotion Detection (Emotion Detection)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B70F3-BD38-D6BF-CFDB-46D104064AD1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600EA0-1465-DEB4-9B4E-96838C044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F85352-3C50-241C-0A53-1EEBAE846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28D51A-2828-15AE-8AC8-8210D83553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9450547-915B-DEC0-3AAA-D4D353DD81F9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9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85896432-F2E0-5264-DFDE-56778422E475}"/>
              </a:ext>
            </a:extLst>
          </p:cNvPr>
          <p:cNvSpPr txBox="1">
            <a:spLocks/>
          </p:cNvSpPr>
          <p:nvPr/>
        </p:nvSpPr>
        <p:spPr>
          <a:xfrm>
            <a:off x="641644" y="1897330"/>
            <a:ext cx="3499456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Has to upload a video to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Each tracked person is analyzed for facial emotion in every frame.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The dominant emotion is displayed along with its confidence score.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Emotion labels are updated dynamically as expressions change.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9225E6-430B-D08C-7C23-37A380787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0271" y="1713406"/>
            <a:ext cx="6945699" cy="401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23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0929-C6DD-7785-9A6B-AA40F50D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CD65C56-B1D2-1AA7-CC0C-870F3D22C557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Emotion Analysis by Person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DD0BC-8362-6AE4-CE21-B86B832AAF53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77DD4-77B9-E50E-82C6-E721A74C5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4CF544-E403-5881-07C9-AC144F415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0F5352-FAB4-15A9-9754-E8C46651F9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C99732C-786B-CD73-74DD-E3B27D11F7A7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10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C42ABF6D-82DE-D777-700A-15F10A455DD8}"/>
              </a:ext>
            </a:extLst>
          </p:cNvPr>
          <p:cNvSpPr txBox="1">
            <a:spLocks/>
          </p:cNvSpPr>
          <p:nvPr/>
        </p:nvSpPr>
        <p:spPr>
          <a:xfrm>
            <a:off x="641644" y="1897330"/>
            <a:ext cx="3499456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Emotion detected percentage are shown over the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Shows how many frames had the emotion.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For each person the graph is generated according to their emotions over the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The emotion type is following the defined color palette.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BFF0E-6063-8CF4-2268-98317ED8E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869" y="1576109"/>
            <a:ext cx="6817714" cy="392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04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1A3C7-0765-1AF0-4D1C-C3885EB5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825EFD0-DCA6-AEC4-8776-822091F796B9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Engagement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D80A6-98A6-43C9-80E3-8FF764DEADA7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E2DF4E-4E7A-8C94-0F78-72BA6CDD8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A0FD50-EA58-010D-C12E-D974D81E5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87C809-7A6A-740F-1704-0E5F0EAF2C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A616C9F-D165-6366-BC0F-8168E1C52B52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11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B5091C9F-95E3-C6DA-45BA-F4B1D9406DDE}"/>
              </a:ext>
            </a:extLst>
          </p:cNvPr>
          <p:cNvSpPr txBox="1">
            <a:spLocks/>
          </p:cNvSpPr>
          <p:nvPr/>
        </p:nvSpPr>
        <p:spPr>
          <a:xfrm>
            <a:off x="641644" y="1897330"/>
            <a:ext cx="3499456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Dominant emotion for each person across all frames are shown.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The emotion type is following the defined color palette.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AD21AE-1922-2BAF-7D07-D5521CE8EB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0670" y="1636099"/>
            <a:ext cx="6794580" cy="313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08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65751-7C6A-2AB6-6952-54BADDAAC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D8CCA26-306E-BEB7-2AB0-F3124266FE6B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Outputs -  Realtime detection (Chrome browser extension)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6CE5F-7DE0-3E09-77BC-08D132FB376C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A4E40-0C75-C594-38EE-D3FC346F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D73B74-2011-1323-575B-4B4AFE6D4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988F03-E4EE-D582-EE7E-DB55E64EFD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F9B65DA-58CE-E65E-1C87-6C0FED9BA507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12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FF51C5CE-6246-FB6D-7C8B-BCF703C69E11}"/>
              </a:ext>
            </a:extLst>
          </p:cNvPr>
          <p:cNvSpPr txBox="1">
            <a:spLocks/>
          </p:cNvSpPr>
          <p:nvPr/>
        </p:nvSpPr>
        <p:spPr>
          <a:xfrm>
            <a:off x="444912" y="1793813"/>
            <a:ext cx="3186604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Currently a Chrome extension has been implemented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Click on the extension and share the related browser window.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It will automatically predict emotions.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Can generate a report based on emotions.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BACEB-615B-72D3-7223-C36B37E96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923" y="1650334"/>
            <a:ext cx="5010131" cy="434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9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28477-CE1C-E097-DDCA-1ADFC85B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6F63B99-A70B-57DB-8AC4-3088C4080C10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Outputs -  Realtime detection (Chrome browser extension)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86A46-8D1E-32A1-4C52-ADA12E9C5BF1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39259-8816-8011-ABE9-27BBF3B1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789B7-E452-1D15-A3F0-4CC47F42E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7E6B33-6C1D-637B-F184-7E15E989C3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0EA558E-A941-C365-C9EE-64A666D1BEF3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13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AA636-65F8-816C-266D-608A3EFAB3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4333"/>
          <a:stretch>
            <a:fillRect/>
          </a:stretch>
        </p:blipFill>
        <p:spPr>
          <a:xfrm>
            <a:off x="373197" y="1642368"/>
            <a:ext cx="4534363" cy="24066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E6896D-EA2C-C8CE-1539-E75B2B7A46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0655" y="3110218"/>
            <a:ext cx="5611039" cy="324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32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4459-8556-3EF4-1FE8-DD4072CB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0D2633D-15D4-0651-EC90-2CEF17ADFFF8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/>
                <a:cs typeface="Arial"/>
              </a:rPr>
              <a:t>Outputs -  Performance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1BF3E-6D31-72D3-59E2-EBBF41DB6437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90D543-D7FB-3FAD-03ED-98D21B7D3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C46EF6-D58A-66D6-7676-6A373B048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24998E-80C5-C012-257C-73B4FB9451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625" b="-49952"/>
          <a:stretch/>
        </p:blipFill>
        <p:spPr>
          <a:xfrm>
            <a:off x="0" y="1426778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AF5B980-A9AC-D668-C7F7-E8770275AC76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14</a:t>
            </a:fld>
            <a:endParaRPr lang="en-US" sz="1400" b="1" i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55447DA-6B9E-CB6D-3C8A-A28C25A5F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0419" y="1821793"/>
            <a:ext cx="5361300" cy="4318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4F84F4-3343-95FE-1E36-5D95B80C1398}"/>
              </a:ext>
            </a:extLst>
          </p:cNvPr>
          <p:cNvSpPr txBox="1"/>
          <p:nvPr/>
        </p:nvSpPr>
        <p:spPr>
          <a:xfrm>
            <a:off x="140138" y="2413000"/>
            <a:ext cx="5053724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Face detection achieves 100% accuracy, ensuring reliable tracking.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Emotion accuracy (56.51%) is measured using single-image (frame-level) evaluation.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Image-based emotion detection is challenging due to pose and lighting variations.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Videos are processed frame by frame, preserving temporal continuity.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Hence, video-based analysis yields more stable and higher accuracy than images</a:t>
            </a:r>
            <a:endParaRPr lang="en-US">
              <a:ea typeface="Calibri"/>
              <a:cs typeface="Calibri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333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AD19-2765-4E15-7593-05DCC950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75507C9-C2D8-ED5D-90A3-766EC4FA82F3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2BF14-EB0C-A273-EF93-B50540E8FD89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35C5EB4D-467C-E380-42DE-18F517F2E5CE}"/>
              </a:ext>
            </a:extLst>
          </p:cNvPr>
          <p:cNvSpPr txBox="1">
            <a:spLocks/>
          </p:cNvSpPr>
          <p:nvPr/>
        </p:nvSpPr>
        <p:spPr>
          <a:xfrm>
            <a:off x="639930" y="2266124"/>
            <a:ext cx="9828212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2"/>
              </a:rPr>
              <a:t>https://encord.com/blog/google-mediapipe/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3"/>
              </a:rPr>
              <a:t>https://mediapipe.readthedocs.io/en/latest/solutions/face_detection.html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4"/>
              </a:rPr>
              <a:t>https://medium.com/sciforce/face-detection-explained-state-of-the-art-methods-and-best-tools-f730fca16294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5"/>
              </a:rPr>
              <a:t>https://learnopencv.com/face-detection-opencv-dlib-and-deep-learning-c-python/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6"/>
              </a:rPr>
              <a:t>https://debuggercafe.com/face-detection-with-dlib-using-cnn/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7"/>
              </a:rPr>
              <a:t>https://peerj.com/articles/cs-2024/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8"/>
              </a:rPr>
              <a:t>https://www.academia.edu/figures/17019577/table-4-strengths-and-limitations-of-fer-techniques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BFDAE-9743-83E5-13F7-A17A60993E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2BD8FA-6691-D68D-EA99-B635DAB52F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9DCE76-79C0-C9BF-EF91-9F8DC1F4282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A50281B-C6B7-27A2-A238-D6F583368E63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15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80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F8E9-65E1-4BD0-18D1-9EB44F7BB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59E081F-E35C-94A9-FDDD-6F25A488FEB7}"/>
              </a:ext>
            </a:extLst>
          </p:cNvPr>
          <p:cNvSpPr txBox="1">
            <a:spLocks/>
          </p:cNvSpPr>
          <p:nvPr/>
        </p:nvSpPr>
        <p:spPr>
          <a:xfrm>
            <a:off x="641644" y="600737"/>
            <a:ext cx="9908045" cy="5096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i="0" kern="120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References (</a:t>
            </a:r>
            <a:r>
              <a:rPr lang="en-US" dirty="0" err="1"/>
              <a:t>Cont</a:t>
            </a:r>
            <a:r>
              <a:rPr lang="en-US" dirty="0"/>
              <a:t>…)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2547C-76B3-D004-EE7F-23A1564B7453}"/>
              </a:ext>
            </a:extLst>
          </p:cNvPr>
          <p:cNvSpPr txBox="1">
            <a:spLocks/>
          </p:cNvSpPr>
          <p:nvPr/>
        </p:nvSpPr>
        <p:spPr>
          <a:xfrm rot="16200000">
            <a:off x="9406361" y="3040008"/>
            <a:ext cx="4397904" cy="1173382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300" b="1" i="0" kern="1200">
                <a:solidFill>
                  <a:schemeClr val="tx1"/>
                </a:solidFill>
                <a:latin typeface="Arial" panose="020B0604020202020204" pitchFamily="34" charset="0"/>
                <a:ea typeface="Inter Medium" panose="020B0502030000000004" pitchFamily="34" charset="0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bg1"/>
                </a:solidFill>
                <a:latin typeface="Inter Medium" panose="020B0502030000000004" pitchFamily="34" charset="0"/>
                <a:ea typeface="Inter Medium" panose="020B0502030000000004" pitchFamily="34" charset="0"/>
                <a:cs typeface="Inter Medium" panose="020B05020300000000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UŽ KIEKVIENOS TECHNOLOGIJOS – ŽMOGUS</a:t>
            </a:r>
            <a:endParaRPr lang="en-LT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3A12DCDB-19A7-2CFD-F794-79C74FCB5B6E}"/>
              </a:ext>
            </a:extLst>
          </p:cNvPr>
          <p:cNvSpPr txBox="1">
            <a:spLocks/>
          </p:cNvSpPr>
          <p:nvPr/>
        </p:nvSpPr>
        <p:spPr>
          <a:xfrm>
            <a:off x="639930" y="2266124"/>
            <a:ext cx="9828212" cy="4220737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2"/>
              </a:rPr>
              <a:t>https://go.smarteye.se/emotion-ai-101-all-about-emotion-detection-and-affectivas-emotion-metrics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3"/>
              </a:rPr>
              <a:t>https://www.itqlick.com/affectiva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4"/>
              </a:rPr>
              <a:t>https://learnopencv.com/face-recognition-models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5"/>
              </a:rPr>
              <a:t>https://news.ycombinator.com/item?id=42584896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6"/>
              </a:rPr>
              <a:t>https://techskillguru.com/opencv/advantages-and-disadvantages-of-opencv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7"/>
              </a:rPr>
              <a:t>https://www.theknowledgeacademy.com/blog/face-detection-with-opencv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8"/>
              </a:rPr>
              <a:t>https://learn.microsoft.com/en-us/azure/ai-foundry/responsible-ai/face/characteristics-and-limitations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hlinkClick r:id="rId9"/>
              </a:rPr>
              <a:t>https://learn.microsoft.com/en-us/azure/ai-services/computer-vision/identity-quotas-limits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D118D-2739-B865-A0FF-A9AB841D61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4563" y="696316"/>
            <a:ext cx="590985" cy="31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8C4077-0118-1D0C-1A07-26F9640082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0097" y="0"/>
            <a:ext cx="381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348F71-C35C-BFAB-E848-018E93A7D4A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625" b="-49952"/>
          <a:stretch/>
        </p:blipFill>
        <p:spPr>
          <a:xfrm>
            <a:off x="0" y="1356709"/>
            <a:ext cx="11018622" cy="285659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DAF2325-2C3D-AB03-5F25-1708727A2753}"/>
              </a:ext>
            </a:extLst>
          </p:cNvPr>
          <p:cNvSpPr txBox="1">
            <a:spLocks/>
          </p:cNvSpPr>
          <p:nvPr/>
        </p:nvSpPr>
        <p:spPr>
          <a:xfrm>
            <a:off x="11163044" y="6286367"/>
            <a:ext cx="922601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5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6F01323-A656-431B-B19E-EE6A8E2AF848}" type="slidenum">
              <a:rPr lang="en-US" sz="1400" b="1" i="0" smtClean="0">
                <a:solidFill>
                  <a:schemeClr val="tx1"/>
                </a:solidFill>
                <a:latin typeface="Arial" panose="020B0604020202020204" pitchFamily="34" charset="0"/>
                <a:ea typeface="Inter Semi Bold" panose="020B0502030000000004" pitchFamily="34" charset="0"/>
                <a:cs typeface="Arial" panose="020B0604020202020204" pitchFamily="34" charset="0"/>
              </a:rPr>
              <a:pPr algn="ctr"/>
              <a:t>16</a:t>
            </a:fld>
            <a:endParaRPr lang="en-US" sz="1400" b="1" i="0" dirty="0">
              <a:solidFill>
                <a:schemeClr val="tx1"/>
              </a:solidFill>
              <a:latin typeface="Arial" panose="020B0604020202020204" pitchFamily="34" charset="0"/>
              <a:ea typeface="Inter Semi Bold" panose="020B05020300000000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67615"/>
      </p:ext>
    </p:extLst>
  </p:cSld>
  <p:clrMapOvr>
    <a:masterClrMapping/>
  </p:clrMapOvr>
</p:sld>
</file>

<file path=ppt/theme/theme1.xml><?xml version="1.0" encoding="utf-8"?>
<a:theme xmlns:a="http://schemas.openxmlformats.org/drawingml/2006/main" name="TEKST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AGRAMA_LENTELĖ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4765</TotalTime>
  <Words>878</Words>
  <Application>Microsoft Macintosh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Inter Medium</vt:lpstr>
      <vt:lpstr>Inter Semi Bold</vt:lpstr>
      <vt:lpstr>TEKSTAS</vt:lpstr>
      <vt:lpstr>FOTO</vt:lpstr>
      <vt:lpstr>DIAGRAMA_LENTELĖ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Champika Shyamali Gunawardhana Ismala Hakuruge</cp:lastModifiedBy>
  <cp:revision>119</cp:revision>
  <dcterms:created xsi:type="dcterms:W3CDTF">2020-12-23T08:59:48Z</dcterms:created>
  <dcterms:modified xsi:type="dcterms:W3CDTF">2026-01-06T13:27:23Z</dcterms:modified>
</cp:coreProperties>
</file>